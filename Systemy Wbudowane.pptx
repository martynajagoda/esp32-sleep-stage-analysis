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Maven Pro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6B45F4-0C8D-49A8-9833-4A67062E897A}">
  <a:tblStyle styleId="{116B45F4-0C8D-49A8-9833-4A67062E89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MavenPr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avenPr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db4b29261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db4b29261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dc6c0272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dc6c0272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dc6c0272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dc6c0272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db4b29261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db4b29261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de1f1c140_1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de1f1c140_1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de1f1c140_4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de1f1c140_4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db4b29261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db4b29261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de1f1c140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de1f1c140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db4b29261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edb4b29261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de1f1c140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ede1f1c140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de1f1c140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ede1f1c140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db4b29261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db4b29261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ża liczba (g3ede1f1c140_13_0)">
  <p:cSld name="Duża liczba (g3ede1f1c140_13_0)">
    <p:bg>
      <p:bgPr>
        <a:solidFill>
          <a:schemeClr val="accent3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>
            <p:ph type="ctrTitle"/>
          </p:nvPr>
        </p:nvSpPr>
        <p:spPr>
          <a:xfrm>
            <a:off x="824000" y="15346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900"/>
              <a:t>Systemy Wbudowane</a:t>
            </a:r>
            <a:endParaRPr sz="3900"/>
          </a:p>
        </p:txBody>
      </p:sp>
      <p:sp>
        <p:nvSpPr>
          <p:cNvPr id="282" name="Google Shape;282;p14"/>
          <p:cNvSpPr txBox="1"/>
          <p:nvPr>
            <p:ph idx="1" type="subTitle"/>
          </p:nvPr>
        </p:nvSpPr>
        <p:spPr>
          <a:xfrm>
            <a:off x="824000" y="2975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Badanie aktywności fazy snu na podstawie tętna oraz aktywności ruchowej</a:t>
            </a:r>
            <a:endParaRPr/>
          </a:p>
        </p:txBody>
      </p:sp>
      <p:sp>
        <p:nvSpPr>
          <p:cNvPr id="283" name="Google Shape;283;p14"/>
          <p:cNvSpPr txBox="1"/>
          <p:nvPr>
            <p:ph idx="1" type="subTitle"/>
          </p:nvPr>
        </p:nvSpPr>
        <p:spPr>
          <a:xfrm>
            <a:off x="824000" y="3670825"/>
            <a:ext cx="3495900" cy="11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pl" sz="1300">
                <a:solidFill>
                  <a:srgbClr val="CCCCCC"/>
                </a:solidFill>
              </a:rPr>
              <a:t>Martyna Jagoda</a:t>
            </a:r>
            <a:endParaRPr b="1" sz="1300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pl" sz="1300">
                <a:solidFill>
                  <a:srgbClr val="CCCCCC"/>
                </a:solidFill>
              </a:rPr>
              <a:t>Maria Bludova</a:t>
            </a:r>
            <a:endParaRPr b="1" sz="1300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pl" sz="1300">
                <a:solidFill>
                  <a:srgbClr val="CCCCCC"/>
                </a:solidFill>
              </a:rPr>
              <a:t>Rafał Jarczyk</a:t>
            </a:r>
            <a:endParaRPr b="1" sz="1300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pl" sz="1300">
                <a:solidFill>
                  <a:srgbClr val="CCCCCC"/>
                </a:solidFill>
              </a:rPr>
              <a:t>Bartłomiej Jaszczak</a:t>
            </a:r>
            <a:endParaRPr b="1" sz="13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Wprowadzenie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388625" y="479050"/>
            <a:ext cx="63669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4800"/>
              <a:t>Schemat projektu</a:t>
            </a:r>
            <a:endParaRPr sz="4800"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 rotWithShape="1">
          <a:blip r:embed="rId3">
            <a:alphaModFix/>
          </a:blip>
          <a:srcRect b="11592" l="0" r="0" t="7344"/>
          <a:stretch/>
        </p:blipFill>
        <p:spPr>
          <a:xfrm>
            <a:off x="922275" y="1459975"/>
            <a:ext cx="7299599" cy="32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1388625" y="479050"/>
            <a:ext cx="63669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4800"/>
              <a:t>Głębokość snu</a:t>
            </a:r>
            <a:endParaRPr sz="4800"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1388625" y="1510325"/>
            <a:ext cx="6366900" cy="29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4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pl" sz="1825"/>
              <a:t>N1 (zasypianie) – spadek aktywności, nieregularne tętno</a:t>
            </a:r>
            <a:endParaRPr sz="1825"/>
          </a:p>
          <a:p>
            <a:pPr indent="-3444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pl" sz="1825"/>
              <a:t>N2 (lekki sen) – stabilizacja tętna, mało ruchu</a:t>
            </a:r>
            <a:endParaRPr sz="1825"/>
          </a:p>
          <a:p>
            <a:pPr indent="-3444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pl" sz="1825"/>
              <a:t>N3 (sen głęboki / slow-wave) – bardzo mało ruchu, niska i stabilna akcja serca, obniżona zmienność tętna</a:t>
            </a:r>
            <a:endParaRPr sz="1825"/>
          </a:p>
          <a:p>
            <a:pPr indent="-3444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pl" sz="1825"/>
              <a:t>REM – brak ruchu ciała, ale tętno staje się bardziej zmienne</a:t>
            </a:r>
            <a:endParaRPr sz="18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Prezentacja sprzętu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Architektura fizyczna</a:t>
            </a:r>
            <a:endParaRPr/>
          </a:p>
        </p:txBody>
      </p:sp>
      <p:sp>
        <p:nvSpPr>
          <p:cNvPr id="312" name="Google Shape;312;p19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3" name="Google Shape;313;p19"/>
          <p:cNvGraphicFramePr/>
          <p:nvPr/>
        </p:nvGraphicFramePr>
        <p:xfrm>
          <a:off x="2100263" y="314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{116B45F4-0C8D-49A8-9833-4A67062E897A}</a:tableStyleId>
              </a:tblPr>
              <a:tblGrid>
                <a:gridCol w="1009650"/>
                <a:gridCol w="39338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rgbClr val="1F1F1F"/>
                          </a:solidFill>
                        </a:rPr>
                        <a:t>Moduł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rgbClr val="1F1F1F"/>
                          </a:solidFill>
                        </a:rPr>
                        <a:t>Rola w projekcie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rgbClr val="1F1F1F"/>
                          </a:solidFill>
                        </a:rPr>
                        <a:t>ESP32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F1F1F"/>
                          </a:solidFill>
                        </a:rPr>
                        <a:t>O</a:t>
                      </a:r>
                      <a:r>
                        <a:rPr lang="pl" sz="1100">
                          <a:solidFill>
                            <a:srgbClr val="1F1F1F"/>
                          </a:solidFill>
                        </a:rPr>
                        <a:t>blicza epoki, łączy się z Wi-Fi i wysyła dane.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rgbClr val="1F1F1F"/>
                          </a:solidFill>
                        </a:rPr>
                        <a:t>MAX30102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F1F1F"/>
                          </a:solidFill>
                        </a:rPr>
                        <a:t>Mierzy tętno (BPM) i saturację (SpO2) z palca.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>
                          <a:solidFill>
                            <a:srgbClr val="1F1F1F"/>
                          </a:solidFill>
                        </a:rPr>
                        <a:t>LSM9DS1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F1F1F"/>
                          </a:solidFill>
                        </a:rPr>
                        <a:t>Akcelerometr - rejestruje mikroruchy i wiercenie się.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75" y="131100"/>
            <a:ext cx="6729675" cy="491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Prezentacja kodu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2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331" name="Google Shape;331;p2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332" name="Google Shape;332;p2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2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337" name="Google Shape;337;p2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2" name="Google Shape;342;p2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343" name="Google Shape;343;p2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7" name="Google Shape;347;p2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348" name="Google Shape;348;p2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1" name="Google Shape;351;p2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352" name="Google Shape;352;p2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" name="Google Shape;357;p2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358" name="Google Shape;358;p2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2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363" name="Google Shape;363;p2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" name="Google Shape;366;p2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367" name="Google Shape;367;p2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" name="Google Shape;372;p2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373" name="Google Shape;373;p2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7" name="Google Shape;377;p2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378" name="Google Shape;378;p2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2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383" name="Google Shape;383;p2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" name="Google Shape;386;p2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387" name="Google Shape;387;p2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1" name="Google Shape;391;p2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392" name="Google Shape;392;p2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6" name="Google Shape;396;p2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397" name="Google Shape;397;p2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2" name="Google Shape;402;p2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403" name="Google Shape;403;p2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" name="Google Shape;407;p2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408" name="Google Shape;408;p2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" name="Google Shape;411;p2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412" name="Google Shape;412;p2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6" name="Google Shape;416;p2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417" name="Google Shape;417;p2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" name="Google Shape;422;p2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423" name="Google Shape;423;p2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" name="Google Shape;427;p2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428" name="Google Shape;428;p2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1" name="Google Shape;431;p2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432" name="Google Shape;432;p2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7" name="Google Shape;437;p2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438" name="Google Shape;438;p2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2" name="Google Shape;442;p2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443" name="Google Shape;443;p2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7" name="Google Shape;447;p2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448" name="Google Shape;448;p2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1" name="Google Shape;451;p2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452" name="Google Shape;452;p2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6" name="Google Shape;456;p22"/>
          <p:cNvGrpSpPr/>
          <p:nvPr/>
        </p:nvGrpSpPr>
        <p:grpSpPr>
          <a:xfrm>
            <a:off x="376238" y="381000"/>
            <a:ext cx="8391600" cy="4386338"/>
            <a:chOff x="376238" y="381000"/>
            <a:chExt cx="8391600" cy="4386338"/>
          </a:xfrm>
        </p:grpSpPr>
        <p:sp>
          <p:nvSpPr>
            <p:cNvPr id="457" name="Google Shape;457;p22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fmla="val 18750" name="adj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 txBox="1"/>
            <p:nvPr/>
          </p:nvSpPr>
          <p:spPr>
            <a:xfrm>
              <a:off x="381000" y="38100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24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Analiza Fazy Snu: Parametry i Modele</a:t>
              </a:r>
              <a:endParaRPr b="1" sz="24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459" name="Google Shape;459;p22"/>
            <p:cNvGrpSpPr/>
            <p:nvPr/>
          </p:nvGrpSpPr>
          <p:grpSpPr>
            <a:xfrm>
              <a:off x="376238" y="1328738"/>
              <a:ext cx="4105200" cy="1152600"/>
              <a:chOff x="376238" y="1328738"/>
              <a:chExt cx="4105200" cy="1152600"/>
            </a:xfrm>
          </p:grpSpPr>
          <p:pic>
            <p:nvPicPr>
              <p:cNvPr id="460" name="Google Shape;460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76238" y="1328738"/>
                <a:ext cx="4105200" cy="1152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1" name="Google Shape;461;p22"/>
              <p:cNvSpPr txBox="1"/>
              <p:nvPr/>
            </p:nvSpPr>
            <p:spPr>
              <a:xfrm>
                <a:off x="381000" y="1333500"/>
                <a:ext cx="40959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400">
                    <a:solidFill>
                      <a:srgbClr val="B2DFDB"/>
                    </a:solidFill>
                    <a:latin typeface="Nunito"/>
                    <a:ea typeface="Nunito"/>
                    <a:cs typeface="Nunito"/>
                    <a:sym typeface="Nunito"/>
                  </a:rPr>
                  <a:t>Cechy (FEATURES)</a:t>
                </a:r>
                <a:endParaRPr b="1" sz="1400">
                  <a:solidFill>
                    <a:srgbClr val="B2DFD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pl" sz="1200">
                    <a:solidFill>
                      <a:srgbClr val="FFFFFF"/>
                    </a:solidFill>
                    <a:latin typeface="Nunito"/>
                    <a:ea typeface="Nunito"/>
                    <a:cs typeface="Nunito"/>
                    <a:sym typeface="Nunito"/>
                  </a:rPr>
                  <a:t>BPM Średnie, HRV, Energia Ruchu</a:t>
                </a:r>
                <a:endParaRPr sz="12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62" name="Google Shape;462;p22"/>
            <p:cNvGrpSpPr/>
            <p:nvPr/>
          </p:nvGrpSpPr>
          <p:grpSpPr>
            <a:xfrm>
              <a:off x="4662488" y="1328738"/>
              <a:ext cx="4105200" cy="1152600"/>
              <a:chOff x="4662488" y="1328738"/>
              <a:chExt cx="4105200" cy="1152600"/>
            </a:xfrm>
          </p:grpSpPr>
          <p:pic>
            <p:nvPicPr>
              <p:cNvPr id="463" name="Google Shape;463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662488" y="1328738"/>
                <a:ext cx="4105200" cy="1152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4" name="Google Shape;464;p22"/>
              <p:cNvSpPr txBox="1"/>
              <p:nvPr/>
            </p:nvSpPr>
            <p:spPr>
              <a:xfrm>
                <a:off x="4667250" y="1333500"/>
                <a:ext cx="40959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400">
                    <a:solidFill>
                      <a:srgbClr val="B2DFDB"/>
                    </a:solidFill>
                    <a:latin typeface="Nunito"/>
                    <a:ea typeface="Nunito"/>
                    <a:cs typeface="Nunito"/>
                    <a:sym typeface="Nunito"/>
                  </a:rPr>
                  <a:t>Cel (TARGET)</a:t>
                </a:r>
                <a:endParaRPr b="1" sz="1400">
                  <a:solidFill>
                    <a:srgbClr val="B2DFD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pl" sz="1200">
                    <a:solidFill>
                      <a:srgbClr val="FFFFFF"/>
                    </a:solidFill>
                    <a:latin typeface="Nunito"/>
                    <a:ea typeface="Nunito"/>
                    <a:cs typeface="Nunito"/>
                    <a:sym typeface="Nunito"/>
                  </a:rPr>
                  <a:t>Faza Snu (Sleep Phase)</a:t>
                </a:r>
                <a:endParaRPr sz="12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376238" y="2662238"/>
              <a:ext cx="8391600" cy="2105100"/>
              <a:chOff x="376238" y="2662238"/>
              <a:chExt cx="8391600" cy="2105100"/>
            </a:xfrm>
          </p:grpSpPr>
          <p:pic>
            <p:nvPicPr>
              <p:cNvPr id="466" name="Google Shape;466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76238" y="2662238"/>
                <a:ext cx="8391600" cy="2105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7" name="Google Shape;467;p22"/>
              <p:cNvSpPr txBox="1"/>
              <p:nvPr/>
            </p:nvSpPr>
            <p:spPr>
              <a:xfrm>
                <a:off x="381000" y="2667000"/>
                <a:ext cx="83820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38125" lIns="238125" spcFirstLastPara="1" rIns="238125" wrap="square" tIns="2381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l" sz="1360">
                    <a:solidFill>
                      <a:srgbClr val="B2DFDB"/>
                    </a:solidFill>
                    <a:latin typeface="Nunito"/>
                    <a:ea typeface="Nunito"/>
                    <a:cs typeface="Nunito"/>
                    <a:sym typeface="Nunito"/>
                  </a:rPr>
                  <a:t>Modele (Analiza snu)</a:t>
                </a:r>
                <a:endParaRPr b="1" sz="1360">
                  <a:solidFill>
                    <a:srgbClr val="B2DFD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-304165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FFFFFF"/>
                  </a:buClr>
                  <a:buSzPts val="1190"/>
                  <a:buFont typeface="Nunito"/>
                  <a:buChar char="●"/>
                </a:pPr>
                <a:r>
                  <a:rPr b="1" lang="pl" sz="1190">
                    <a:solidFill>
                      <a:srgbClr val="FFFFFF"/>
                    </a:solidFill>
                    <a:latin typeface="Nunito"/>
                    <a:ea typeface="Nunito"/>
                    <a:cs typeface="Nunito"/>
                    <a:sym typeface="Nunito"/>
                  </a:rPr>
                  <a:t>Random Forest:</a:t>
                </a:r>
                <a:r>
                  <a:rPr lang="pl" sz="935">
                    <a:solidFill>
                      <a:srgbClr val="E0F2F1"/>
                    </a:solidFill>
                    <a:latin typeface="Nunito"/>
                    <a:ea typeface="Nunito"/>
                    <a:cs typeface="Nunito"/>
                    <a:sym typeface="Nunito"/>
                  </a:rPr>
                  <a:t> Głosowanie wielu drzew.</a:t>
                </a:r>
                <a:endParaRPr sz="119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-304165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FFFFFF"/>
                  </a:buClr>
                  <a:buSzPts val="1190"/>
                  <a:buFont typeface="Nunito"/>
                  <a:buChar char="●"/>
                </a:pPr>
                <a:r>
                  <a:rPr b="1" lang="pl" sz="1190">
                    <a:solidFill>
                      <a:srgbClr val="FFFFFF"/>
                    </a:solidFill>
                    <a:latin typeface="Nunito"/>
                    <a:ea typeface="Nunito"/>
                    <a:cs typeface="Nunito"/>
                    <a:sym typeface="Nunito"/>
                  </a:rPr>
                  <a:t>XGBClassifier:</a:t>
                </a:r>
                <a:r>
                  <a:rPr lang="pl" sz="935">
                    <a:solidFill>
                      <a:srgbClr val="E0F2F1"/>
                    </a:solidFill>
                    <a:latin typeface="Nunito"/>
                    <a:ea typeface="Nunito"/>
                    <a:cs typeface="Nunito"/>
                    <a:sym typeface="Nunito"/>
                  </a:rPr>
                  <a:t> Maksymalna dokładność.</a:t>
                </a:r>
                <a:endParaRPr sz="119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-304165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FFFFFF"/>
                  </a:buClr>
                  <a:buSzPts val="1190"/>
                  <a:buFont typeface="Nunito"/>
                  <a:buChar char="●"/>
                </a:pPr>
                <a:r>
                  <a:rPr b="1" lang="pl" sz="1190">
                    <a:solidFill>
                      <a:srgbClr val="FFFFFF"/>
                    </a:solidFill>
                    <a:latin typeface="Nunito"/>
                    <a:ea typeface="Nunito"/>
                    <a:cs typeface="Nunito"/>
                    <a:sym typeface="Nunito"/>
                  </a:rPr>
                  <a:t>LGBMClassifier:</a:t>
                </a:r>
                <a:r>
                  <a:rPr lang="pl" sz="935">
                    <a:solidFill>
                      <a:srgbClr val="E0F2F1"/>
                    </a:solidFill>
                    <a:latin typeface="Nunito"/>
                    <a:ea typeface="Nunito"/>
                    <a:cs typeface="Nunito"/>
                    <a:sym typeface="Nunito"/>
                  </a:rPr>
                  <a:t> Szybki i lekki.</a:t>
                </a:r>
                <a:endParaRPr sz="119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-304165" lvl="0" marL="457200" rtl="0" algn="l">
                  <a:spcBef>
                    <a:spcPts val="1125"/>
                  </a:spcBef>
                  <a:spcAft>
                    <a:spcPts val="1125"/>
                  </a:spcAft>
                  <a:buClr>
                    <a:srgbClr val="FFFFFF"/>
                  </a:buClr>
                  <a:buSzPts val="1190"/>
                  <a:buFont typeface="Nunito"/>
                  <a:buChar char="●"/>
                </a:pPr>
                <a:r>
                  <a:rPr b="1" lang="pl" sz="1190">
                    <a:solidFill>
                      <a:srgbClr val="FFFFFF"/>
                    </a:solidFill>
                    <a:latin typeface="Nunito"/>
                    <a:ea typeface="Nunito"/>
                    <a:cs typeface="Nunito"/>
                    <a:sym typeface="Nunito"/>
                  </a:rPr>
                  <a:t>SVC:</a:t>
                </a:r>
                <a:r>
                  <a:rPr lang="pl" sz="935">
                    <a:solidFill>
                      <a:srgbClr val="E0F2F1"/>
                    </a:solidFill>
                    <a:latin typeface="Nunito"/>
                    <a:ea typeface="Nunito"/>
                    <a:cs typeface="Nunito"/>
                    <a:sym typeface="Nunito"/>
                  </a:rPr>
                  <a:t> Matematyczna granica.</a:t>
                </a:r>
                <a:endParaRPr sz="119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3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23"/>
          <p:cNvPicPr preferRelativeResize="0"/>
          <p:nvPr/>
        </p:nvPicPr>
        <p:blipFill rotWithShape="1">
          <a:blip r:embed="rId3">
            <a:alphaModFix/>
          </a:blip>
          <a:srcRect b="4119" l="1137" r="1662" t="7291"/>
          <a:stretch/>
        </p:blipFill>
        <p:spPr>
          <a:xfrm>
            <a:off x="128225" y="1274813"/>
            <a:ext cx="8887549" cy="2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4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24"/>
          <p:cNvPicPr preferRelativeResize="0"/>
          <p:nvPr/>
        </p:nvPicPr>
        <p:blipFill rotWithShape="1">
          <a:blip r:embed="rId3">
            <a:alphaModFix/>
          </a:blip>
          <a:srcRect b="3790" l="1419" r="1419" t="5974"/>
          <a:stretch/>
        </p:blipFill>
        <p:spPr>
          <a:xfrm>
            <a:off x="123825" y="1574075"/>
            <a:ext cx="8769001" cy="2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25"/>
          <p:cNvPicPr preferRelativeResize="0"/>
          <p:nvPr/>
        </p:nvPicPr>
        <p:blipFill rotWithShape="1">
          <a:blip r:embed="rId3">
            <a:alphaModFix/>
          </a:blip>
          <a:srcRect b="3639" l="1034" r="512" t="3990"/>
          <a:stretch/>
        </p:blipFill>
        <p:spPr>
          <a:xfrm>
            <a:off x="47250" y="95800"/>
            <a:ext cx="9002474" cy="235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5"/>
          <p:cNvPicPr preferRelativeResize="0"/>
          <p:nvPr/>
        </p:nvPicPr>
        <p:blipFill rotWithShape="1">
          <a:blip r:embed="rId4">
            <a:alphaModFix/>
          </a:blip>
          <a:srcRect b="2382" l="512" r="1034" t="0"/>
          <a:stretch/>
        </p:blipFill>
        <p:spPr>
          <a:xfrm>
            <a:off x="47250" y="2453850"/>
            <a:ext cx="9002473" cy="25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6" name="Google Shape;496;p26"/>
          <p:cNvPicPr preferRelativeResize="0"/>
          <p:nvPr/>
        </p:nvPicPr>
        <p:blipFill rotWithShape="1">
          <a:blip r:embed="rId3">
            <a:alphaModFix/>
          </a:blip>
          <a:srcRect b="2457" l="836" r="855" t="2685"/>
          <a:stretch/>
        </p:blipFill>
        <p:spPr>
          <a:xfrm>
            <a:off x="145763" y="1411950"/>
            <a:ext cx="8852625" cy="26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